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75320" y="-228600"/>
            <a:ext cx="4206240" cy="74066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137160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32520" y="1417320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995FF"/>
                </a:solidFill>
                <a:latin typeface="Aptos"/>
              </a:rPr>
              <a:t>EC2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37160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417320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995FF"/>
                </a:solidFill>
                <a:latin typeface="Aptos"/>
              </a:rPr>
              <a:t>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78892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834639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995FF"/>
                </a:solidFill>
                <a:latin typeface="Aptos"/>
              </a:rPr>
              <a:t>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278892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2834639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995FF"/>
                </a:solidFill>
                <a:latin typeface="Aptos"/>
              </a:rPr>
              <a:t>IaC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53728" y="2423160"/>
            <a:ext cx="0" cy="365760"/>
          </a:xfrm>
          <a:prstGeom prst="line">
            <a:avLst/>
          </a:prstGeom>
          <a:ln w="2540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671048" y="2423160"/>
            <a:ext cx="0" cy="365760"/>
          </a:xfrm>
          <a:prstGeom prst="line">
            <a:avLst/>
          </a:prstGeom>
          <a:ln w="2540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8" y="2788920"/>
            <a:ext cx="1417320" cy="0"/>
          </a:xfrm>
          <a:prstGeom prst="line">
            <a:avLst/>
          </a:prstGeom>
          <a:ln w="2540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3840480"/>
            <a:ext cx="0" cy="320040"/>
          </a:xfrm>
          <a:prstGeom prst="line">
            <a:avLst/>
          </a:prstGeom>
          <a:ln w="2540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658368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95FF"/>
                </a:solidFill>
                <a:latin typeface="Aptos"/>
              </a:rPr>
              <a:t>PROJECT PRESENTATION  /  CLOUD COMPUTING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325880"/>
            <a:ext cx="722376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9FC"/>
                </a:solidFill>
                <a:latin typeface="Aptos"/>
              </a:rPr>
              <a:t>From banking services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9FC"/>
                </a:solidFill>
                <a:latin typeface="Aptos"/>
              </a:rPr>
              <a:t>to cloud-ready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907792"/>
            <a:ext cx="67208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EBBD0"/>
                </a:solidFill>
                <a:latin typeface="Aptos"/>
              </a:rPr>
              <a:t>A containerized IBMS deployment design combines a single API entry point, cloud compute, managed MySQL, and infrastructure as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731520" cy="50292"/>
          </a:xfrm>
          <a:prstGeom prst="rect">
            <a:avLst/>
          </a:prstGeom>
          <a:solidFill>
            <a:srgbClr val="A9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95FF"/>
                </a:solidFill>
                <a:latin typeface="Aptos"/>
              </a:rPr>
              <a:t>DOCKER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771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95FF"/>
                </a:solidFill>
                <a:latin typeface="Aptos"/>
              </a:rPr>
              <a:t>AWS EC2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95FF"/>
                </a:solidFill>
                <a:latin typeface="Aptos"/>
              </a:rPr>
              <a:t>AWS 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95FF"/>
                </a:solidFill>
                <a:latin typeface="Aptos"/>
              </a:rPr>
              <a:t>TERRAFORM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99632"/>
            <a:ext cx="6766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IBMS  •  INTEGRATED BANKING MANAGEMENT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995FF"/>
                </a:solidFill>
                <a:latin typeface="Aptos"/>
              </a:rPr>
              <a:t>01  /  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One application. Two deployment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The service architecture stays the same; the infrastructure and database endpoint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993392"/>
            <a:ext cx="7525512" cy="358444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7040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995FF"/>
                </a:solidFill>
                <a:latin typeface="Aptos"/>
              </a:rPr>
              <a:t>AWS DEPLOYMENT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788920"/>
            <a:ext cx="1170432" cy="65836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43784"/>
            <a:ext cx="106070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9FC"/>
                </a:solidFill>
                <a:latin typeface="Aptos"/>
              </a:rPr>
              <a:t>Internet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2848" y="3108960"/>
            <a:ext cx="393192" cy="0"/>
          </a:xfrm>
          <a:prstGeom prst="line">
            <a:avLst/>
          </a:prstGeom>
          <a:ln w="2159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51760" y="2587752"/>
            <a:ext cx="3291840" cy="2322576"/>
          </a:xfrm>
          <a:prstGeom prst="roundRect">
            <a:avLst>
              <a:gd name="adj" fmla="val 13000"/>
            </a:avLst>
          </a:prstGeom>
          <a:solidFill>
            <a:srgbClr val="263854"/>
          </a:solidFill>
          <a:ln w="1524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715768"/>
            <a:ext cx="27889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3A9FF"/>
                </a:solidFill>
                <a:latin typeface="Aptos"/>
              </a:rPr>
              <a:t>AWS EC2  ·  Docker Compose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218688"/>
            <a:ext cx="2697480" cy="484632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3264408"/>
            <a:ext cx="257860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7F9FC"/>
                </a:solidFill>
                <a:latin typeface="Aptos"/>
              </a:rPr>
              <a:t>Nginx API Gateway  :80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9504" y="3977639"/>
            <a:ext cx="603504" cy="56692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4050791"/>
            <a:ext cx="56692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43D9D0"/>
                </a:solidFill>
                <a:latin typeface="Aptos"/>
              </a:rPr>
              <a:t>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3977639"/>
            <a:ext cx="603504" cy="56692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050791"/>
            <a:ext cx="56692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3A9FF"/>
                </a:solidFill>
                <a:latin typeface="Aptos"/>
              </a:rPr>
              <a:t>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977639"/>
            <a:ext cx="603504" cy="56692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7" y="4050791"/>
            <a:ext cx="56692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995FF"/>
                </a:solidFill>
                <a:latin typeface="Aptos"/>
              </a:rPr>
              <a:t>Notify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64608" y="3977639"/>
            <a:ext cx="603504" cy="56692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4050791"/>
            <a:ext cx="56692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C66D"/>
                </a:solidFill>
                <a:latin typeface="Aptos"/>
              </a:rPr>
              <a:t>Loans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71032" y="3108960"/>
            <a:ext cx="457200" cy="0"/>
          </a:xfrm>
          <a:prstGeom prst="line">
            <a:avLst/>
          </a:prstGeom>
          <a:ln w="2159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73952" y="2788920"/>
            <a:ext cx="1417320" cy="123444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889504"/>
            <a:ext cx="123444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66D"/>
                </a:solidFill>
                <a:latin typeface="Aptos"/>
              </a:rPr>
              <a:t>AWS 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73552"/>
            <a:ext cx="120700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7F9FC"/>
                </a:solidFill>
                <a:latin typeface="Aptos"/>
              </a:rPr>
              <a:t>MySQL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7F9FC"/>
                </a:solidFill>
                <a:latin typeface="Aptos"/>
              </a:rPr>
              <a:t>4 logical DBs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102352"/>
            <a:ext cx="6995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BD0"/>
                </a:solidFill>
                <a:latin typeface="Aptos"/>
              </a:rPr>
              <a:t>Security groups: HTTP to EC2  ·  MySQL ingress only from EC2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1993392"/>
            <a:ext cx="2852928" cy="358444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2267712"/>
            <a:ext cx="23317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3D9D0"/>
                </a:solidFill>
                <a:latin typeface="Aptos"/>
              </a:rPr>
              <a:t>LOCAL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761488"/>
            <a:ext cx="230428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9FC"/>
                </a:solidFill>
                <a:latin typeface="Aptos"/>
              </a:rPr>
              <a:t>Docker Compose runs the same four services with a local MySQL container and Nginx gateway.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517136"/>
            <a:ext cx="22128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7112" y="4535424"/>
            <a:ext cx="2066543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localhost:8080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995FF"/>
                </a:solidFill>
                <a:latin typeface="Aptos"/>
              </a:rPr>
              <a:t>AWS is the deployment target/design in this repository; local Docker Compose was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3A9FF"/>
                </a:solidFill>
                <a:latin typeface="Aptos"/>
              </a:rPr>
              <a:t>02  /  CLOUD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Cloud choices mapped to IBMS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The cloud layer adds deployment, managed services, networking, and repeatable provisioning.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39112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3A9FF"/>
                </a:solidFill>
                <a:latin typeface="Aptos"/>
              </a:rPr>
              <a:t>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29968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AWS EC2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29968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Runs Dockerized Spring Boot services and Nginx.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615184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660904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C66D"/>
                </a:solidFill>
                <a:latin typeface="Aptos"/>
              </a:rPr>
              <a:t>MANAGED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51760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AWS RDS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51760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Managed database instance; four logical IBMS databases.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3236976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3D9D0"/>
                </a:solidFill>
                <a:latin typeface="Aptos"/>
              </a:rPr>
              <a:t>CONTAINERS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273552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Docker + Compose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73552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Package services and describe the multi-container stack.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3858768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904488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995FF"/>
                </a:solidFill>
                <a:latin typeface="Aptos"/>
              </a:rPr>
              <a:t>ENTRY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895344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Nginx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895344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Routes API paths to services; one public HTTP endpoint.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480560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526280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D8A0"/>
                </a:solidFill>
                <a:latin typeface="Aptos"/>
              </a:rP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517136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Terraform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17136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Defines EC2, RDS, subnet group, and security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5102352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148072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887B"/>
                </a:solidFill>
                <a:latin typeface="Aptos"/>
              </a:rPr>
              <a:t>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138928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Environment variables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138928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Externalize DB host, credentials, and service URLs.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3A9FF"/>
                </a:solidFill>
                <a:latin typeface="Aptos"/>
              </a:rPr>
              <a:t>Designed for a cloud deployment path; stateless services provide a foundation for later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D8A0"/>
                </a:solidFill>
                <a:latin typeface="Aptos"/>
              </a:rPr>
              <a:t>03  /  DEPLOYMENT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A clear path from code to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Terraform provisions infrastructure; application deployment is a separate, explicit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2121408"/>
            <a:ext cx="2395728" cy="205740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95144"/>
            <a:ext cx="56692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95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7432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9FC"/>
                </a:solidFill>
                <a:latin typeface="Aptos"/>
              </a:rPr>
              <a:t>Provision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182112"/>
            <a:ext cx="202996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terraform init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terraform plan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terraform apply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9544" y="3108960"/>
            <a:ext cx="246888" cy="0"/>
          </a:xfrm>
          <a:prstGeom prst="line">
            <a:avLst/>
          </a:prstGeom>
          <a:ln w="2286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11296" y="2121408"/>
            <a:ext cx="2395728" cy="205740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295144"/>
            <a:ext cx="56692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3A9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7432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9FC"/>
                </a:solidFill>
                <a:latin typeface="Aptos"/>
              </a:rPr>
              <a:t>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182112"/>
            <a:ext cx="202996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Set RDS endpoint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and DB credentials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in environment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2744" y="3108960"/>
            <a:ext cx="246887" cy="0"/>
          </a:xfrm>
          <a:prstGeom prst="line">
            <a:avLst/>
          </a:prstGeom>
          <a:ln w="22860">
            <a:solidFill>
              <a:srgbClr val="63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54496" y="2121408"/>
            <a:ext cx="2395728" cy="205740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295144"/>
            <a:ext cx="56692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3D9D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7432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9FC"/>
                </a:solidFill>
                <a:latin typeface="Aptos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182112"/>
            <a:ext cx="202996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Copy/clone repo to EC2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Build JARs;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AWS Compose file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95944" y="3108960"/>
            <a:ext cx="246888" cy="0"/>
          </a:xfrm>
          <a:prstGeom prst="line">
            <a:avLst/>
          </a:prstGeom>
          <a:ln w="2286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97696" y="2121408"/>
            <a:ext cx="2395728" cy="205740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295144"/>
            <a:ext cx="56692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7432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9FC"/>
                </a:solidFill>
                <a:latin typeface="Apto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182112"/>
            <a:ext cx="202996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Check gateway on :80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Exercise routed APIs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Review service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" y="4526280"/>
            <a:ext cx="10661904" cy="79552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645152"/>
            <a:ext cx="16093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D8A0"/>
                </a:solidFill>
                <a:latin typeface="Aptos"/>
              </a:rPr>
              <a:t>VIVA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4599432"/>
            <a:ext cx="8503920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1">
                <a:solidFill>
                  <a:srgbClr val="F7F9FC"/>
                </a:solidFill>
                <a:latin typeface="Aptos"/>
              </a:rPr>
              <a:t>“MSA defines how the application is split into services; cloud computing provides the infrastructure and managed resources to run them.”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596128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C66D"/>
                </a:solidFill>
                <a:latin typeface="Aptos"/>
              </a:rPr>
              <a:t>Cost note: AWS resources may incur charges. Review pricing and clean up provisioned resources after a demo.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D8A0"/>
                </a:solidFill>
                <a:latin typeface="Aptos"/>
              </a:rPr>
              <a:t>Local verification: http://localhost:8080/health  •  AWS deployment requires credentials and provisioning.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