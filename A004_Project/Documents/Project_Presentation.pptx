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75320" y="-228600"/>
            <a:ext cx="4206240" cy="74066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53728" y="2423160"/>
            <a:ext cx="0" cy="36576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71048" y="2423160"/>
            <a:ext cx="0" cy="36576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788920"/>
            <a:ext cx="1417320" cy="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840480"/>
            <a:ext cx="0" cy="32004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658368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D9D0"/>
                </a:solidFill>
                <a:latin typeface="Aptos"/>
              </a:rPr>
              <a:t>PROJECT PRESENTATION  /  MICROSERVICES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25880"/>
            <a:ext cx="72237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A banking system,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built as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07792"/>
            <a:ext cx="67208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EBBD0"/>
                </a:solidFill>
                <a:latin typeface="Aptos"/>
              </a:rPr>
              <a:t>IBMS separates core banking capabilities into independently deployable Spring Boot services with clear data ownership.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731520" cy="50292"/>
          </a:xfrm>
          <a:prstGeom prst="rect">
            <a:avLst/>
          </a:prstGeom>
          <a:solidFill>
            <a:srgbClr val="4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SPRING BOOT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OPENFEIGN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SWAGGER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6766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IBMS  •  INTEGRATED BANKING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3D9D0"/>
                </a:solidFill>
                <a:latin typeface="Aptos"/>
              </a:rPr>
              <a:t>01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Four services. Four data stores.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Each service owns a focused capability and its own logical MySQL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19202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CLIENT / API CALLER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21992"/>
            <a:ext cx="1847088" cy="65836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1609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REST APIs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551176"/>
            <a:ext cx="411480" cy="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80" y="196596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96596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4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093976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Auth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46888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:8081  /  auth_db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96596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24927" y="196596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093976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Transaction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46888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:8082  /  transaction_db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70332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80" y="370332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A9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3831335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Notification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420624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:8083  /  notification_db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0332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24927" y="370332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3831335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Loan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20624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:8084  /  loan_db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468880"/>
            <a:ext cx="457200" cy="0"/>
          </a:xfrm>
          <a:prstGeom prst="line">
            <a:avLst/>
          </a:prstGeom>
          <a:ln w="22860">
            <a:solidFill>
              <a:srgbClr val="63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66560" y="181051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3A9FF"/>
                </a:solidFill>
                <a:latin typeface="Aptos"/>
              </a:rPr>
              <a:t>FEIGN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03720" y="4206240"/>
            <a:ext cx="521207" cy="0"/>
          </a:xfrm>
          <a:prstGeom prst="line">
            <a:avLst/>
          </a:prstGeom>
          <a:ln w="2286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48272" y="4361688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995FF"/>
                </a:solidFill>
                <a:latin typeface="Aptos"/>
              </a:rPr>
              <a:t>FEIGN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3D9D0"/>
                </a:solidFill>
                <a:latin typeface="Aptos"/>
              </a:rPr>
              <a:t>Auth → Transaction   •   Loan → Notification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02  /  BUSINESS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Follow the banking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REST endpoints expose each capability; OpenFeign connects selected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21408"/>
            <a:ext cx="3246120" cy="3090672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31720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3D9D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1635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9FC"/>
                </a:solidFill>
                <a:latin typeface="Aptos"/>
              </a:rPr>
              <a:t>CUSTOMER &amp;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3429000"/>
            <a:ext cx="502920" cy="41148"/>
          </a:xfrm>
          <a:prstGeom prst="rect">
            <a:avLst/>
          </a:prstGeom>
          <a:solidFill>
            <a:srgbClr val="4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85032"/>
            <a:ext cx="281635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Register customer  ·  POST /auth/register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Create / retrieve account  ·  /accounts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21408"/>
            <a:ext cx="3246120" cy="3090672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331720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3A9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81635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9FC"/>
                </a:solidFill>
                <a:latin typeface="Aptos"/>
              </a:rPr>
              <a:t>MONEY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3429000"/>
            <a:ext cx="502920" cy="41148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3685032"/>
            <a:ext cx="281635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Deposit / withdraw  ·  /transactions/…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Transfer &amp; retrieve history  ·  /transactions/{id}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2121408"/>
            <a:ext cx="3246120" cy="3090672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C66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1635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9FC"/>
                </a:solidFill>
                <a:latin typeface="Aptos"/>
              </a:rPr>
              <a:t>LOAN &amp; NOTIFICATION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429000"/>
            <a:ext cx="502920" cy="4114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85032"/>
            <a:ext cx="281635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Apply / view loan  ·  /loans/…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Create / list alerts  ·  /notifications/…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API paths shown are the service routes; gateway routing is available on port 8080.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03  /  BUILD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A practical MSA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Independent service boundaries, persistence per capability, and explicit API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48840"/>
            <a:ext cx="3246120" cy="23957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3957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3D9D0"/>
                </a:solidFill>
                <a:latin typeface="Aptos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907792"/>
            <a:ext cx="27889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4 Spring Boot services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4 logical MySQL databases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OpenFeign for service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23957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957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3A9FF"/>
                </a:solidFill>
                <a:latin typeface="Aptos"/>
              </a:rPr>
              <a:t>TOOLING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07792"/>
            <a:ext cx="27889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Java 21 · Maven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Spring Web · Spring Data JPA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Docker · Compose · Nginx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2148840"/>
            <a:ext cx="3246120" cy="23957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3957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07792"/>
            <a:ext cx="27889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Swagger: ports 8081–8084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Gateway: localhost:8080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Health: GET /health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828032"/>
            <a:ext cx="10680192" cy="786384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956048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D8A0"/>
                </a:solidFill>
                <a:latin typeface="Aptos"/>
              </a:rPr>
              <a:t>PRESENTATION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901184"/>
            <a:ext cx="8549640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1">
                <a:solidFill>
                  <a:srgbClr val="F7F9FC"/>
                </a:solidFill>
                <a:latin typeface="Aptos"/>
              </a:rPr>
              <a:t>“MSA describes how IBMS is structured: focused services, their own data, and APIs for collaboration.”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Project demo status: local Docker Compose stack started and gateway health check passed.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75320" y="-228600"/>
            <a:ext cx="4206240" cy="74066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EC2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995FF"/>
                </a:solidFill>
                <a:latin typeface="Aptos"/>
              </a:rPr>
              <a:t>IaC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53728" y="2423160"/>
            <a:ext cx="0" cy="36576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71048" y="2423160"/>
            <a:ext cx="0" cy="36576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788920"/>
            <a:ext cx="1417320" cy="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840480"/>
            <a:ext cx="0" cy="320040"/>
          </a:xfrm>
          <a:prstGeom prst="line">
            <a:avLst/>
          </a:prstGeom>
          <a:ln w="2540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658368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95FF"/>
                </a:solidFill>
                <a:latin typeface="Aptos"/>
              </a:rPr>
              <a:t>PROJECT PRESENTATION  /  CLOUD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25880"/>
            <a:ext cx="72237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From banking services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to cloud-ready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07792"/>
            <a:ext cx="67208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EBBD0"/>
                </a:solidFill>
                <a:latin typeface="Aptos"/>
              </a:rPr>
              <a:t>A containerized IBMS deployment design combines a single API entry point, cloud compute, managed MySQL, and infrastructure as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731520" cy="50292"/>
          </a:xfrm>
          <a:prstGeom prst="rect">
            <a:avLst/>
          </a:prstGeom>
          <a:solidFill>
            <a:srgbClr val="A9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DOCKER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AWS EC2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AWS 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95FF"/>
                </a:solidFill>
                <a:latin typeface="Aptos"/>
              </a:rPr>
              <a:t>TERRAFORM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6766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IBMS  •  INTEGRATED BANKING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95FF"/>
                </a:solidFill>
                <a:latin typeface="Aptos"/>
              </a:rPr>
              <a:t>01  / 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One application. Two deployment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The service architecture stays the same; the infrastructure and database endpoint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93392"/>
            <a:ext cx="7525512" cy="358444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7040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95FF"/>
                </a:solidFill>
                <a:latin typeface="Aptos"/>
              </a:rPr>
              <a:t>AWS DEPLOYMENT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788920"/>
            <a:ext cx="1170432" cy="65836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43784"/>
            <a:ext cx="106070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9FC"/>
                </a:solidFill>
                <a:latin typeface="Aptos"/>
              </a:rPr>
              <a:t>Internet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3108960"/>
            <a:ext cx="393192" cy="0"/>
          </a:xfrm>
          <a:prstGeom prst="line">
            <a:avLst/>
          </a:prstGeom>
          <a:ln w="2159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51760" y="2587752"/>
            <a:ext cx="3291840" cy="2322576"/>
          </a:xfrm>
          <a:prstGeom prst="roundRect">
            <a:avLst>
              <a:gd name="adj" fmla="val 13000"/>
            </a:avLst>
          </a:prstGeom>
          <a:solidFill>
            <a:srgbClr val="263854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715768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3A9FF"/>
                </a:solidFill>
                <a:latin typeface="Aptos"/>
              </a:rPr>
              <a:t>AWS EC2  ·  Docker 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218688"/>
            <a:ext cx="2697480" cy="484632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3264408"/>
            <a:ext cx="257860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7F9FC"/>
                </a:solidFill>
                <a:latin typeface="Aptos"/>
              </a:rPr>
              <a:t>Nginx API Gateway  :80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3D9D0"/>
                </a:solidFill>
                <a:latin typeface="Aptos"/>
              </a:rPr>
              <a:t>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3A9FF"/>
                </a:solidFill>
                <a:latin typeface="Aptos"/>
              </a:rPr>
              <a:t>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7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995FF"/>
                </a:solidFill>
                <a:latin typeface="Aptos"/>
              </a:rPr>
              <a:t>Notify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4608" y="3977639"/>
            <a:ext cx="603504" cy="566928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4050791"/>
            <a:ext cx="56692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C66D"/>
                </a:solidFill>
                <a:latin typeface="Aptos"/>
              </a:rPr>
              <a:t>Loans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1032" y="3108960"/>
            <a:ext cx="457200" cy="0"/>
          </a:xfrm>
          <a:prstGeom prst="line">
            <a:avLst/>
          </a:prstGeom>
          <a:ln w="2159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73952" y="2788920"/>
            <a:ext cx="1417320" cy="123444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889504"/>
            <a:ext cx="12344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66D"/>
                </a:solidFill>
                <a:latin typeface="Aptos"/>
              </a:rPr>
              <a:t>AWS 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73552"/>
            <a:ext cx="120700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7F9FC"/>
                </a:solidFill>
                <a:latin typeface="Aptos"/>
              </a:rPr>
              <a:t>MySQL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7F9FC"/>
                </a:solidFill>
                <a:latin typeface="Aptos"/>
              </a:rPr>
              <a:t>4 logical DBs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102352"/>
            <a:ext cx="6995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EBBD0"/>
                </a:solidFill>
                <a:latin typeface="Aptos"/>
              </a:rPr>
              <a:t>Security groups: HTTP to EC2  ·  MySQL ingress only from EC2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1993392"/>
            <a:ext cx="2852928" cy="358444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267712"/>
            <a:ext cx="23317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D9D0"/>
                </a:solidFill>
                <a:latin typeface="Aptos"/>
              </a:rPr>
              <a:t>LOCAL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761488"/>
            <a:ext cx="230428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9FC"/>
                </a:solidFill>
                <a:latin typeface="Aptos"/>
              </a:rPr>
              <a:t>Docker Compose runs the same four services with a local MySQL container and Nginx gateway.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517136"/>
            <a:ext cx="22128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4535424"/>
            <a:ext cx="2066543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localhost:8080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95FF"/>
                </a:solidFill>
                <a:latin typeface="Aptos"/>
              </a:rPr>
              <a:t>AWS is the deployment target/design in this repository; local Docker Compose was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02  /  CLOUD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Cloud choices mapped to IBMS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The cloud layer adds deployment, managed services, networking, and repeatable provisioning.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93392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39112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3A9FF"/>
                </a:solidFill>
                <a:latin typeface="Aptos"/>
              </a:rPr>
              <a:t>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29968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AWS EC2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29968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Runs Dockerized Spring Boot services and Nginx.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615184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60904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66D"/>
                </a:solidFill>
                <a:latin typeface="Aptos"/>
              </a:rPr>
              <a:t>MANAGED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51760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AWS RDS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Managed database instance; four logical IBMS databases.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236976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3D9D0"/>
                </a:solidFill>
                <a:latin typeface="Aptos"/>
              </a:rPr>
              <a:t>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273552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Docker + Compose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73552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Package services and describe the multi-container stack.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3858768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904488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95FF"/>
                </a:solidFill>
                <a:latin typeface="Aptos"/>
              </a:rPr>
              <a:t>ENTRY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95344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Nginx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895344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Routes API paths to services; one public HTTP endpoint.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480560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526280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D8A0"/>
                </a:solidFill>
                <a:latin typeface="Aptos"/>
              </a:rP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517136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Terraform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17136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Defines EC2, RDS, subnet group, and security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5102352"/>
            <a:ext cx="10661904" cy="493776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148072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887B"/>
                </a:solidFill>
                <a:latin typeface="Aptos"/>
              </a:rPr>
              <a:t>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138928"/>
            <a:ext cx="2267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9FC"/>
                </a:solidFill>
                <a:latin typeface="Aptos"/>
              </a:rPr>
              <a:t>Environment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138928"/>
            <a:ext cx="598017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Externalize DB host, credentials, and service URLs.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Designed for a cloud deployment path; stateless services provide a foundation for later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03  /  DEPLOYMENT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A clear path from code to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Terraform provisions infrastructure; application deployment is a separate, explicit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95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Provision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terraform init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terraform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terraform apply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9544" y="3108960"/>
            <a:ext cx="246888" cy="0"/>
          </a:xfrm>
          <a:prstGeom prst="line">
            <a:avLst/>
          </a:prstGeom>
          <a:ln w="2286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112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3A9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Set RDS endpoint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and DB credentials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in environment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2744" y="3108960"/>
            <a:ext cx="246887" cy="0"/>
          </a:xfrm>
          <a:prstGeom prst="line">
            <a:avLst/>
          </a:prstGeom>
          <a:ln w="22860">
            <a:solidFill>
              <a:srgbClr val="63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44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3D9D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Copy/clone repo to EC2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Build JARs;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AWS Compose file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95944" y="3108960"/>
            <a:ext cx="246888" cy="0"/>
          </a:xfrm>
          <a:prstGeom prst="line">
            <a:avLst/>
          </a:prstGeom>
          <a:ln w="2286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97696" y="2121408"/>
            <a:ext cx="2395728" cy="205740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295144"/>
            <a:ext cx="56692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743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9FC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182112"/>
            <a:ext cx="202996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Check gateway on :80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Exercise routed APIs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Review service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4526280"/>
            <a:ext cx="10661904" cy="7955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645152"/>
            <a:ext cx="16093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D8A0"/>
                </a:solidFill>
                <a:latin typeface="Aptos"/>
              </a:rPr>
              <a:t>VIVA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4599432"/>
            <a:ext cx="8503920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F7F9FC"/>
                </a:solidFill>
                <a:latin typeface="Aptos"/>
              </a:rPr>
              <a:t>“MSA defines how the application is split into services; cloud computing provides the infrastructure and managed resources to run them.”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596128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C66D"/>
                </a:solidFill>
                <a:latin typeface="Aptos"/>
              </a:rPr>
              <a:t>Cost note: AWS resources may incur charges. Review pricing and clean up provisioned resources after a demo.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Local verification: http://localhost:8080/health  •  AWS deployment requires credentials and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