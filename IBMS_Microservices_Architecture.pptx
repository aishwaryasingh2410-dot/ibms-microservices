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75320" y="-228600"/>
            <a:ext cx="4206240" cy="74066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32520" y="137160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32520" y="1417320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3D9D0"/>
                </a:solidFill>
                <a:latin typeface="Aptos"/>
              </a:rPr>
              <a:t>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137160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1417320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3D9D0"/>
                </a:solidFill>
                <a:latin typeface="Aptos"/>
              </a:rPr>
              <a:t>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278892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2834639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3D9D0"/>
                </a:solidFill>
                <a:latin typeface="Aptos"/>
              </a:rPr>
              <a:t>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2788920"/>
            <a:ext cx="1051560" cy="1051560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49840" y="2834639"/>
            <a:ext cx="1051560" cy="8686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3D9D0"/>
                </a:solidFill>
                <a:latin typeface="Aptos"/>
              </a:rPr>
              <a:t>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253728" y="2423160"/>
            <a:ext cx="0" cy="365760"/>
          </a:xfrm>
          <a:prstGeom prst="line">
            <a:avLst/>
          </a:prstGeom>
          <a:ln w="2540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671048" y="2423160"/>
            <a:ext cx="0" cy="365760"/>
          </a:xfrm>
          <a:prstGeom prst="line">
            <a:avLst/>
          </a:prstGeom>
          <a:ln w="2540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253728" y="2788920"/>
            <a:ext cx="1417320" cy="0"/>
          </a:xfrm>
          <a:prstGeom prst="line">
            <a:avLst/>
          </a:prstGeom>
          <a:ln w="2540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3840480"/>
            <a:ext cx="0" cy="320040"/>
          </a:xfrm>
          <a:prstGeom prst="line">
            <a:avLst/>
          </a:prstGeom>
          <a:ln w="2540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658368"/>
            <a:ext cx="667512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3D9D0"/>
                </a:solidFill>
                <a:latin typeface="Aptos"/>
              </a:rPr>
              <a:t>PROJECT PRESENTATION  /  MICROSERVICES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1325880"/>
            <a:ext cx="7223760" cy="1417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9FC"/>
                </a:solidFill>
                <a:latin typeface="Aptos"/>
              </a:rPr>
              <a:t>A banking system,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7F9FC"/>
                </a:solidFill>
                <a:latin typeface="Aptos"/>
              </a:rPr>
              <a:t>built as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2907792"/>
            <a:ext cx="6720840" cy="8686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AEBBD0"/>
                </a:solidFill>
                <a:latin typeface="Aptos"/>
              </a:rPr>
              <a:t>IBMS separates core banking capabilities into independently deployable Spring Boot services with clear data ownership.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069080"/>
            <a:ext cx="731520" cy="50292"/>
          </a:xfrm>
          <a:prstGeom prst="rect">
            <a:avLst/>
          </a:prstGeom>
          <a:solidFill>
            <a:srgbClr val="43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9D0"/>
                </a:solidFill>
                <a:latin typeface="Aptos"/>
              </a:rPr>
              <a:t>SPRING BOOT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9456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6771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9D0"/>
                </a:solidFill>
                <a:latin typeface="Aptos"/>
              </a:rPr>
              <a:t>OPENFEIGN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1188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8503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9D0"/>
                </a:solidFill>
                <a:latin typeface="Aptos"/>
              </a:rPr>
              <a:t>MYSQL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4590288"/>
            <a:ext cx="1298448" cy="310896"/>
          </a:xfrm>
          <a:prstGeom prst="roundRect">
            <a:avLst>
              <a:gd name="adj" fmla="val 13000"/>
            </a:avLst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2352" y="4608575"/>
            <a:ext cx="1152144" cy="2651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9D0"/>
                </a:solidFill>
                <a:latin typeface="Aptos"/>
              </a:rPr>
              <a:t>SWAGGER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199632"/>
            <a:ext cx="676656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IBMS  •  INTEGRATED BANKING MANAGEMENT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3D9D0"/>
                </a:solidFill>
                <a:latin typeface="Aptos"/>
              </a:rPr>
              <a:t>01  /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Four services. Four data stores.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Each service owns a focused capability and its own logical MySQL database.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38528"/>
            <a:ext cx="1920240" cy="21945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CLIENT / API CALLER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21992"/>
            <a:ext cx="1847088" cy="65836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13432"/>
            <a:ext cx="1609344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9FC"/>
                </a:solidFill>
                <a:latin typeface="Aptos"/>
              </a:rPr>
              <a:t>REST APIs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51760" y="2551176"/>
            <a:ext cx="411480" cy="0"/>
          </a:xfrm>
          <a:prstGeom prst="line">
            <a:avLst/>
          </a:prstGeom>
          <a:ln w="25400">
            <a:solidFill>
              <a:srgbClr val="43D9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154680" y="1965960"/>
            <a:ext cx="3730752" cy="10058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43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54680" y="1965960"/>
            <a:ext cx="68580" cy="1005840"/>
          </a:xfrm>
          <a:prstGeom prst="roundRect">
            <a:avLst>
              <a:gd name="adj" fmla="val 13000"/>
            </a:avLst>
          </a:prstGeom>
          <a:solidFill>
            <a:srgbClr val="43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2093976"/>
            <a:ext cx="34015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9FC"/>
                </a:solidFill>
                <a:latin typeface="Aptos"/>
              </a:rPr>
              <a:t>Auth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468880"/>
            <a:ext cx="340156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:8081  /  auth_db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24927" y="1965960"/>
            <a:ext cx="3730752" cy="10058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63A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24927" y="1965960"/>
            <a:ext cx="68580" cy="1005840"/>
          </a:xfrm>
          <a:prstGeom prst="roundRect">
            <a:avLst>
              <a:gd name="adj" fmla="val 13000"/>
            </a:avLst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6" y="2093976"/>
            <a:ext cx="34015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9FC"/>
                </a:solidFill>
                <a:latin typeface="Aptos"/>
              </a:rPr>
              <a:t>Transaction Service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468880"/>
            <a:ext cx="340156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:8082  /  transaction_db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3703320"/>
            <a:ext cx="3730752" cy="10058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A9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54680" y="3703320"/>
            <a:ext cx="68580" cy="1005840"/>
          </a:xfrm>
          <a:prstGeom prst="roundRect">
            <a:avLst>
              <a:gd name="adj" fmla="val 13000"/>
            </a:avLst>
          </a:prstGeom>
          <a:solidFill>
            <a:srgbClr val="A99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3831335"/>
            <a:ext cx="34015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9FC"/>
                </a:solidFill>
                <a:latin typeface="Aptos"/>
              </a:rPr>
              <a:t>Notification Service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4206240"/>
            <a:ext cx="340156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:8083  /  notification_db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24927" y="3703320"/>
            <a:ext cx="3730752" cy="1005840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 w="15240">
            <a:solidFill>
              <a:srgbClr val="FFC6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24927" y="3703320"/>
            <a:ext cx="68580" cy="1005840"/>
          </a:xfrm>
          <a:prstGeom prst="roundRect">
            <a:avLst>
              <a:gd name="adj" fmla="val 13000"/>
            </a:avLst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26096" y="3831335"/>
            <a:ext cx="3401568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9FC"/>
                </a:solidFill>
                <a:latin typeface="Aptos"/>
              </a:rPr>
              <a:t>Loan Service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206240"/>
            <a:ext cx="3401568" cy="2103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EBBD0"/>
                </a:solidFill>
                <a:latin typeface="Aptos"/>
              </a:rPr>
              <a:t>:8084  /  loan_db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03720" y="2468880"/>
            <a:ext cx="457200" cy="0"/>
          </a:xfrm>
          <a:prstGeom prst="line">
            <a:avLst/>
          </a:prstGeom>
          <a:ln w="22860">
            <a:solidFill>
              <a:srgbClr val="63A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766560" y="1810512"/>
            <a:ext cx="7315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3A9FF"/>
                </a:solidFill>
                <a:latin typeface="Aptos"/>
              </a:rPr>
              <a:t>FEIGN</a:t>
            </a:r>
          </a:p>
        </p:txBody>
      </p:sp>
      <p:cxnSp>
        <p:nvCxnSpPr>
          <p:cNvPr id="29" name="Connector 28"/>
          <p:cNvCxnSpPr/>
          <p:nvPr/>
        </p:nvCxnSpPr>
        <p:spPr>
          <a:xfrm flipH="1">
            <a:off x="6903720" y="4206240"/>
            <a:ext cx="521207" cy="0"/>
          </a:xfrm>
          <a:prstGeom prst="line">
            <a:avLst/>
          </a:prstGeom>
          <a:ln w="22860">
            <a:solidFill>
              <a:srgbClr val="A99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748272" y="4361688"/>
            <a:ext cx="749808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A995FF"/>
                </a:solidFill>
                <a:latin typeface="Aptos"/>
              </a:rPr>
              <a:t>FEIGN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3D9D0"/>
                </a:solidFill>
                <a:latin typeface="Aptos"/>
              </a:rPr>
              <a:t>Auth → Transaction   •   Loan → Notification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3A9FF"/>
                </a:solidFill>
                <a:latin typeface="Aptos"/>
              </a:rPr>
              <a:t>02  /  BUSINESS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Follow the banking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REST endpoints expose each capability; OpenFeign connects selected services.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21408"/>
            <a:ext cx="3246120" cy="3090672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331720"/>
            <a:ext cx="6400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43D9D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816352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9FC"/>
                </a:solidFill>
                <a:latin typeface="Aptos"/>
              </a:rPr>
              <a:t>CUSTOMER &amp; ACCOUNT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3429000"/>
            <a:ext cx="502920" cy="41148"/>
          </a:xfrm>
          <a:prstGeom prst="rect">
            <a:avLst/>
          </a:prstGeom>
          <a:solidFill>
            <a:srgbClr val="43D9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" y="3685032"/>
            <a:ext cx="2816352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Register customer  ·  POST /auth/register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Create / retrieve account  ·  /accounts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2121408"/>
            <a:ext cx="3246120" cy="3090672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2331720"/>
            <a:ext cx="6400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63A9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816352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9FC"/>
                </a:solidFill>
                <a:latin typeface="Aptos"/>
              </a:rPr>
              <a:t>MONEY MOVEMENT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3429000"/>
            <a:ext cx="502920" cy="41148"/>
          </a:xfrm>
          <a:prstGeom prst="rect">
            <a:avLst/>
          </a:prstGeom>
          <a:solidFill>
            <a:srgbClr val="63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3685032"/>
            <a:ext cx="2816352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Deposit / withdraw  ·  /transactions/…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Transfer &amp; retrieve history  ·  /transactions/{id}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11312" y="2121408"/>
            <a:ext cx="3246120" cy="3090672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6400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C66D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816352"/>
            <a:ext cx="28346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7F9FC"/>
                </a:solidFill>
                <a:latin typeface="Aptos"/>
              </a:rPr>
              <a:t>LOAN &amp; NOTIFICATION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3429000"/>
            <a:ext cx="502920" cy="41148"/>
          </a:xfrm>
          <a:prstGeom prst="rect">
            <a:avLst/>
          </a:prstGeom>
          <a:solidFill>
            <a:srgbClr val="FFC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685032"/>
            <a:ext cx="2816352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Apply / view loan  ·  /loans/…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EBBD0"/>
                </a:solidFill>
                <a:latin typeface="Aptos"/>
              </a:rPr>
              <a:t>• Create / list alerts  ·  /notifications/…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3A9FF"/>
                </a:solidFill>
                <a:latin typeface="Aptos"/>
              </a:rPr>
              <a:t>API paths shown are the service routes; gateway routing is available on port 8080.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B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10896"/>
            <a:ext cx="5943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2D8A0"/>
                </a:solidFill>
                <a:latin typeface="Aptos"/>
              </a:rPr>
              <a:t>03  /  BUILD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67512"/>
            <a:ext cx="1088136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7F9FC"/>
                </a:solidFill>
                <a:latin typeface="Aptos"/>
              </a:rPr>
              <a:t>A practical MSA 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25296"/>
            <a:ext cx="10789920" cy="40233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AEBBD0"/>
                </a:solidFill>
                <a:latin typeface="Aptos"/>
              </a:rPr>
              <a:t>Independent service boundaries, persistence per capability, and explicit API contracts.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908792" cy="13716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018520" y="6510528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EBBD0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148840"/>
            <a:ext cx="3246120" cy="239572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7" y="2395728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43D9D0"/>
                </a:solidFill>
                <a:latin typeface="Aptos"/>
              </a:rPr>
              <a:t>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7" y="2907792"/>
            <a:ext cx="27889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4 Spring Boot services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4 logical MySQL databases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OpenFeign for service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239572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395728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63A9FF"/>
                </a:solidFill>
                <a:latin typeface="Aptos"/>
              </a:rPr>
              <a:t>TOOLING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907792"/>
            <a:ext cx="27889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Java 21 · Maven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Spring Web · Spring Data JPA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Docker · Compose · Nginx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11312" y="2148840"/>
            <a:ext cx="3246120" cy="2395728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2395728"/>
            <a:ext cx="278892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C66D"/>
                </a:solidFill>
                <a:latin typeface="Aptos"/>
              </a:rPr>
              <a:t>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2907792"/>
            <a:ext cx="2788920" cy="1261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Swagger: ports 8081–8084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Gateway: localhost:8080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7F9FC"/>
                </a:solidFill>
                <a:latin typeface="Aptos"/>
              </a:rPr>
              <a:t>• Health: GET /health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" y="4828032"/>
            <a:ext cx="10680192" cy="786384"/>
          </a:xfrm>
          <a:prstGeom prst="roundRect">
            <a:avLst>
              <a:gd name="adj" fmla="val 13000"/>
            </a:avLst>
          </a:prstGeom>
          <a:solidFill>
            <a:srgbClr val="1929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956048"/>
            <a:ext cx="138988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2D8A0"/>
                </a:solidFill>
                <a:latin typeface="Aptos"/>
              </a:rPr>
              <a:t>PRESENTATION 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901184"/>
            <a:ext cx="8549640" cy="4663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20" b="0" i="1">
                <a:solidFill>
                  <a:srgbClr val="F7F9FC"/>
                </a:solidFill>
                <a:latin typeface="Aptos"/>
              </a:rPr>
              <a:t>“MSA describes how IBMS is structured: focused services, their own data, and APIs for collaboration.”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108192"/>
            <a:ext cx="10908792" cy="9144"/>
          </a:xfrm>
          <a:prstGeom prst="rect">
            <a:avLst/>
          </a:prstGeom>
          <a:solidFill>
            <a:srgbClr val="202F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6245352"/>
            <a:ext cx="10424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2D8A0"/>
                </a:solidFill>
                <a:latin typeface="Aptos"/>
              </a:rPr>
              <a:t>Project demo status: local Docker Compose stack started and gateway health check passed.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